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2743200"/>
            <a:ext cx="5029200" cy="5029200"/>
          </a:xfrm>
          <a:prstGeom prst="ellipse">
            <a:avLst/>
          </a:prstGeom>
          <a:solidFill>
            <a:srgbClr val="0F766E">
              <a:alpha val="65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73152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05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· 90 MIN · BEGINNER FRIENDLY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46304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與 Skill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從零開始的完整教學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48640" y="3154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用比喻、流程圖、實戰案例，30 分鐘建立完整心智模型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160520"/>
            <a:ext cx="36576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Bedridden  ·  </a:t>
            </a:r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TorchBase Workspace  ·  v1.0  ·  2026-04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為什麼要學這個？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三個常見痛點，三個你會帶走的能力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常見痛點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05740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5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不知道 Claude 到底能做什麼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60120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只把它當成聊天機器人，工具與檔案能力沒被打開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用了 Skill 但效果不穩定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3163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同樣指令今天行、明天不行，不知道癥結在哪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228600" cy="22860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794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看到 Agent / Skill / MCP 名詞就頭痛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60120" y="4032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概念混在一起，無法區分誰負責什麼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1508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看完帶走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46320" y="2057400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05740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166360" y="19659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分清楚 Instruction / Skill / Agent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166360" y="229514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三個詞各代表什麼，用一張圖記住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2926080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92608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66360" y="28346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看見任務知道要不要、怎麼觸發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166360" y="316382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自己寫請求時更精準，不靠運氣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3794760"/>
            <a:ext cx="228600" cy="22860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794760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166360" y="37033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能寫出第一份自己的 Skill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166360" y="40325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description 開始，套用設計七原則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開場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30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今天的學習地圖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個段落，每段約 5–6 張，可以中途跳段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15544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三個關鍵詞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用員工 / 手冊 / 口令的比喻認識 Agent、Skill、Instruction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48840" y="146304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148840" y="1463040"/>
            <a:ext cx="15544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24028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三層架構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28600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看清三者誰包誰、誰是基礎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840480" y="146304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840480" y="1463040"/>
            <a:ext cx="15544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393192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運作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97764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觸發機制、漸進載入、為什麼有時不會被叫出來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532120" y="146304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532120" y="1463040"/>
            <a:ext cx="15544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3212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562356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怎麼使用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66928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自然語言觸發 + 兩個實戰案例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223760" y="1463040"/>
            <a:ext cx="1554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23760" y="1463040"/>
            <a:ext cx="1554480" cy="6400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1463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7315200" y="2194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怎麼設計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360920" y="2697480"/>
            <a:ext cx="1280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六步驟流程、七大原則、避雷指南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本場結束時，你會擁有「看請求就知道是哪個 Skill」的反射動作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 · 開場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30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"/>
            <a:ext cx="7315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18288" cy="1463040"/>
          </a:xfrm>
          <a:prstGeom prst="rect">
            <a:avLst/>
          </a:prstGeom>
          <a:solidFill>
            <a:srgbClr val="5EEAD4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三個關鍵詞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091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Key Concepts — Agent · Skill · Instruction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926080"/>
            <a:ext cx="4572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1F5F58"/>
          </a:solidFill>
          <a:ln w="12700">
            <a:solidFill>
              <a:srgbClr val="1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三個關鍵詞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30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LLM vs. AI Agent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差別不在「聰不聰明」，而在「能不能動手」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 LLM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「我問什麼，你答什麼」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109728" cy="109728"/>
          </a:xfrm>
          <a:prstGeom prst="ellipse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4231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單輪問答，問完就結束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2971800"/>
            <a:ext cx="109728" cy="109728"/>
          </a:xfrm>
          <a:prstGeom prst="ellipse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80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不能讀寫你的檔案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3429000"/>
            <a:ext cx="109728" cy="109728"/>
          </a:xfrm>
          <a:prstGeom prst="ellipse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37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不能呼叫外部 API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3886200"/>
            <a:ext cx="109728" cy="109728"/>
          </a:xfrm>
          <a:prstGeom prst="ellipse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94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不能跨步驟記住狀態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7160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011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「告訴我目標，我自己想辦法達成」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92040" y="251460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4231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多步驟自主執行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92040" y="297180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28803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可讀寫檔案與系統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892040" y="342900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3375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可呼叫工具、API、MCP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92040" y="3886200"/>
            <a:ext cx="109728" cy="10972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74920" y="3794760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可規劃、觀察、修正策略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三個關鍵詞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30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≈ 員工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比喻：一位會用工具、能執行任務的員工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463040" y="1554480"/>
            <a:ext cx="1188720" cy="1188720"/>
          </a:xfrm>
          <a:prstGeom prst="ellipse">
            <a:avLst/>
          </a:prstGeom>
          <a:solidFill>
            <a:srgbClr val="5EEAD4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80160" y="2606040"/>
            <a:ext cx="1554480" cy="1463040"/>
          </a:xfrm>
          <a:prstGeom prst="roundRect">
            <a:avLst>
              <a:gd name="adj" fmla="val 937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17320" y="3108960"/>
            <a:ext cx="1280160" cy="274320"/>
          </a:xfrm>
          <a:prstGeom prst="rect">
            <a:avLst/>
          </a:prstGeom>
          <a:solidFill>
            <a:srgbClr val="FFFFFF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31089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4114800"/>
            <a:ext cx="2743200" cy="36576"/>
          </a:xfrm>
          <a:prstGeom prst="rect">
            <a:avLst/>
          </a:prstGeom>
          <a:solidFill>
            <a:srgbClr val="A8A29E"/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這位員工會做什麼？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0" y="1828800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8013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讀寫你電腦上的檔案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120640" y="2075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Word、PDF、Excel、程式碼…都能直接動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0" y="2542032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0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120640" y="25146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API、查網路、用 MCP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120640" y="27889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Slack、Gmail、GitHub、Google Drive 等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3255264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3255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20640" y="32278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操作應用程式與瀏覽器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120640" y="35021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點擊、輸入、滑動，跨多個視窗作業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0" y="3968496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396849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120640" y="39410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連續執行多步驟直到完成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120640" y="421538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失敗會自我觀察、修正、再試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三個關鍵詞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30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≈ 工作手冊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比喻：員工查的 SOP，遇到特定任務時翻出來照做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2286000" cy="2560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645920"/>
            <a:ext cx="2286000" cy="2560320"/>
          </a:xfrm>
          <a:prstGeom prst="rect">
            <a:avLst/>
          </a:prstGeom>
          <a:solidFill>
            <a:srgbClr val="CCFBF1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97280" y="1737360"/>
            <a:ext cx="22860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88720" y="1920240"/>
            <a:ext cx="164592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0116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2468880"/>
            <a:ext cx="1371600" cy="45720"/>
          </a:xfrm>
          <a:prstGeom prst="rect">
            <a:avLst/>
          </a:prstGeom>
          <a:solidFill>
            <a:srgbClr val="A8A29E">
              <a:alpha val="70000"/>
            </a:srgbClr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697480"/>
            <a:ext cx="1005840" cy="45720"/>
          </a:xfrm>
          <a:prstGeom prst="rect">
            <a:avLst/>
          </a:prstGeom>
          <a:solidFill>
            <a:srgbClr val="A8A29E">
              <a:alpha val="70000"/>
            </a:srgbClr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88720" y="2926080"/>
            <a:ext cx="1371600" cy="45720"/>
          </a:xfrm>
          <a:prstGeom prst="rect">
            <a:avLst/>
          </a:prstGeom>
          <a:solidFill>
            <a:srgbClr val="A8A29E">
              <a:alpha val="70000"/>
            </a:srgbClr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88720" y="3154680"/>
            <a:ext cx="1005840" cy="45720"/>
          </a:xfrm>
          <a:prstGeom prst="rect">
            <a:avLst/>
          </a:prstGeom>
          <a:solidFill>
            <a:srgbClr val="A8A29E">
              <a:alpha val="70000"/>
            </a:srgbClr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3383280"/>
            <a:ext cx="1371600" cy="45720"/>
          </a:xfrm>
          <a:prstGeom prst="rect">
            <a:avLst/>
          </a:prstGeom>
          <a:solidFill>
            <a:srgbClr val="A8A29E">
              <a:alpha val="70000"/>
            </a:srgbClr>
          </a:solidFill>
          <a:ln w="12700">
            <a:solidFill>
              <a:srgbClr val="A8A29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251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一份資料夾 + SKILL.md + 資源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206240" y="1371600"/>
            <a:ext cx="4480560" cy="141732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389120" y="14630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沒有 Skill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389120" y="17830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從零想 </a:t>
            </a:r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流程不一致 </a:t>
            </a:r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容易遺漏步驟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389120" y="2240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「同樣請求，今天好、明天差，輸出品質飄」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06240" y="2926080"/>
            <a:ext cx="4480560" cy="141732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389120" y="3017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有 Skill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389120" y="33375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套用既定流程 </a:t>
            </a:r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輸出穩定 </a:t>
            </a:r>
            <a:pPr indent="0" marL="0">
              <a:buNone/>
            </a:pPr>
            <a:r>
              <a:rPr lang="en-US" sz="115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</a:t>
            </a:r>
            <a:pPr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自動覆蓋邊界條件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389120" y="379476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「每次都按手冊走，品質可預期、可驗證」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三個關鍵詞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30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≈ 口令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比喻：你給員工的「一句話任務說明」— 最小語意單位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3108960" cy="201168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54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188720" y="361188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3648456"/>
            <a:ext cx="0" cy="27432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3922776"/>
            <a:ext cx="365760" cy="0"/>
          </a:xfrm>
          <a:prstGeom prst="line">
            <a:avLst/>
          </a:prstGeom>
          <a:noFill/>
          <a:ln w="2540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8308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"幫我把這份 PDF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i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摘要成 5 點，存成 Word"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一段給 LLM 的條件化輸入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8912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 Instruction 通常包含…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7772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0" y="178308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257800" y="176479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任務目標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446520" y="17647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「摘要、轉換、分析、生成」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89120" y="2331720"/>
            <a:ext cx="7772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0" y="233172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257800" y="2313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角色情境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46520" y="23134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「你是放射科醫師…」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89120" y="2880360"/>
            <a:ext cx="7772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0" y="288036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57800" y="28620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輸入資料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286207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檔案、貼上的文字、URL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389120" y="3429000"/>
            <a:ext cx="7772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342900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257800" y="341071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輸出格式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46520" y="34107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「條列 5 點」「Word 檔」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3977640"/>
            <a:ext cx="7772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3977640"/>
            <a:ext cx="777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257800" y="39593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限制邊界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446520" y="395935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「不要虛構引用」「8 頁以內」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三個關鍵詞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30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三者放在同一張圖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 + 手冊 + 口令 = 你看見的 Claude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371600" y="1280160"/>
            <a:ext cx="6400800" cy="2788920"/>
          </a:xfrm>
          <a:prstGeom prst="roundRect">
            <a:avLst>
              <a:gd name="adj" fmla="val 6557"/>
            </a:avLst>
          </a:prstGeom>
          <a:solidFill>
            <a:srgbClr val="CCFBF1"/>
          </a:solidFill>
          <a:ln w="254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54480" y="137160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 ·  員工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0" y="1737360"/>
            <a:ext cx="5486400" cy="219456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54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0" y="18288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 ·  手冊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468880" y="2240280"/>
            <a:ext cx="4206240" cy="1554480"/>
          </a:xfrm>
          <a:prstGeom prst="roundRect">
            <a:avLst>
              <a:gd name="adj" fmla="val 8824"/>
            </a:avLst>
          </a:prstGeom>
          <a:solidFill>
            <a:srgbClr val="FED7AA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 ·  口令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51760" y="2697480"/>
            <a:ext cx="3840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最小單位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 LLM 的一段條件化輸入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是「打包好的 instruction」 · Agent 是「會挑 skill 的員工」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三個關鍵詞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30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"/>
            <a:ext cx="7315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18288" cy="1463040"/>
          </a:xfrm>
          <a:prstGeom prst="rect">
            <a:avLst/>
          </a:prstGeom>
          <a:solidFill>
            <a:srgbClr val="5EEAD4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三層架構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091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→ Skill → Agent  ·  Hierarchy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926080"/>
            <a:ext cx="4572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1F5F58"/>
          </a:solidFill>
          <a:ln w="12700">
            <a:solidFill>
              <a:srgbClr val="1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三層架構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30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三者是「嵌套」不是「並列」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是基底，Skill 是封裝，Agent 是調度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4114800"/>
            <a:ext cx="4572000" cy="7772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最小單位 · 給 LLM 一段輸入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97280" y="3246120"/>
            <a:ext cx="3657600" cy="7772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972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預先封裝 · 一份 SOP 手冊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377440"/>
            <a:ext cx="2743200" cy="7772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554480" y="2423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54480" y="2788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調度系統 · 模型 + 工具 + 記憶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1691640"/>
            <a:ext cx="0" cy="3108960"/>
          </a:xfrm>
          <a:prstGeom prst="line">
            <a:avLst/>
          </a:prstGeom>
          <a:noFill/>
          <a:ln w="19050">
            <a:solidFill>
              <a:srgbClr val="57534E"/>
            </a:solidFill>
            <a:prstDash val="solid"/>
            <a:headEnd type="triangl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5532120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封裝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53212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調度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468880" cy="338328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一句話記憶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187452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口令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是組成單位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手冊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是工具
</a:t>
            </a:r>
            <a:pPr indent="0" marL="0">
              <a:lnSpc>
                <a:spcPts val="2200"/>
              </a:lnSpc>
              <a:buNone/>
            </a:pPr>
            <a:r>
              <a:rPr lang="en-US" sz="13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員工 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是執行者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3383280"/>
            <a:ext cx="2194560" cy="0"/>
          </a:xfrm>
          <a:prstGeom prst="line">
            <a:avLst/>
          </a:prstGeom>
          <a:noFill/>
          <a:ln w="6350">
            <a:solidFill>
              <a:srgbClr val="0F766E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6355080" y="352044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三者不是「並列三選一」，而是「裡外三層」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三層架構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30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拆開看 = 一份結構化的 instruction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每個欄位都對應 instruction 設計的某個元素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的元素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417320"/>
            <a:ext cx="4160520" cy="41148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4173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對應到 Instruction 概念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828800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2880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63440" y="18288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識別符（給 Agent 內部索引）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76272"/>
            <a:ext cx="402336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2176272"/>
            <a:ext cx="416052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762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17627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Meta-instruction · 決定何時觸發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23744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26280" y="2523744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2374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背景與目標 段落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5237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+ Why · 為什麼做、為誰做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71216"/>
            <a:ext cx="402336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26280" y="2871216"/>
            <a:ext cx="416052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871216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執行流程 段落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87121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decomposition + Output format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218688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26280" y="3218688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218688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重要注意事項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21868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/ Bounded · 不要做什麼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26280" y="3566160"/>
            <a:ext cx="416052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566160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常見錯誤與解決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663440" y="356616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recovery instruction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913632"/>
            <a:ext cx="402336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26280" y="3913632"/>
            <a:ext cx="41605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9136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references/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663440" y="391363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按需載入的延伸 context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261104"/>
            <a:ext cx="402336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26280" y="4261104"/>
            <a:ext cx="4160520" cy="34747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261104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663440" y="426110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確定性步驟外包（避免 LLM 自由發揮）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三層架構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30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把短輸入「補完」成完整 instruction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你只說一句，Agent 從多處湊齊上下文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548640"/>
          </a:xfrm>
          <a:prstGeom prst="roundRect">
            <a:avLst>
              <a:gd name="adj" fmla="val 16667"/>
            </a:avLst>
          </a:prstGeom>
          <a:solidFill>
            <a:srgbClr val="FED7AA"/>
          </a:solidFill>
          <a:ln w="19050">
            <a:solidFill>
              <a:srgbClr val="EA580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54480"/>
            <a:ext cx="777240" cy="2743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544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0" y="141732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「幫我把這份會議錄音轉成摘要 Word」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0" y="2011680"/>
            <a:ext cx="0" cy="3200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423160"/>
            <a:ext cx="7863840" cy="1188720"/>
          </a:xfrm>
          <a:prstGeom prst="rect">
            <a:avLst/>
          </a:prstGeom>
          <a:solidFill>
            <a:srgbClr val="134E4A"/>
          </a:solidFill>
          <a:ln w="12700">
            <a:solidFill>
              <a:srgbClr val="134E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542032"/>
            <a:ext cx="868680" cy="2743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542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134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4688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內部：把短輸入補完成完整 instruction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28346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 prompt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68680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· how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474720" y="28346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 Skill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3474720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docx + transcribe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80760" y="2834640"/>
            <a:ext cx="2423160" cy="685800"/>
          </a:xfrm>
          <a:prstGeom prst="roundRect">
            <a:avLst>
              <a:gd name="adj" fmla="val 13333"/>
            </a:avLst>
          </a:prstGeom>
          <a:solidFill>
            <a:srgbClr val="0F766E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28803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 / 記憶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80760" y="31546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0" y="3657600"/>
            <a:ext cx="0" cy="320040"/>
          </a:xfrm>
          <a:prstGeom prst="line">
            <a:avLst/>
          </a:prstGeom>
          <a:noFill/>
          <a:ln w="2540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40080" y="4023360"/>
            <a:ext cx="7863840" cy="640080"/>
          </a:xfrm>
          <a:prstGeom prst="roundRect">
            <a:avLst>
              <a:gd name="adj" fmla="val 14286"/>
            </a:avLst>
          </a:prstGeom>
          <a:solidFill>
            <a:srgbClr val="CCFBF1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4400" y="4160520"/>
            <a:ext cx="1417320" cy="2743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160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402336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 + [task] + [檔案位址] + [docx 輸出規格] + [限制]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三層架構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30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"/>
            <a:ext cx="7315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18288" cy="1463040"/>
          </a:xfrm>
          <a:prstGeom prst="rect">
            <a:avLst/>
          </a:prstGeom>
          <a:solidFill>
            <a:srgbClr val="5EEAD4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怎麼運作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091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· Loading · Description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926080"/>
            <a:ext cx="4572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1F5F58"/>
          </a:solidFill>
          <a:ln w="12700">
            <a:solidFill>
              <a:srgbClr val="1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運作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30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 — 漸進式載入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不會一次把所有 Skill 都讀進記憶體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91440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137160" cy="9144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508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  Metadata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永遠在 context 中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749040" y="1554480"/>
            <a:ext cx="0" cy="640080"/>
          </a:xfrm>
          <a:prstGeom prst="line">
            <a:avLst/>
          </a:prstGeom>
          <a:noFill/>
          <a:ln w="6350">
            <a:solidFill>
              <a:srgbClr val="EA580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886200" y="1508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≈ 100 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用這個判斷「該不該叫這個 Skill」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280160" y="2514600"/>
            <a:ext cx="6583680" cy="914400"/>
          </a:xfrm>
          <a:prstGeom prst="rect">
            <a:avLst/>
          </a:prstGeom>
          <a:solidFill>
            <a:srgbClr val="CCFBF1"/>
          </a:solidFill>
          <a:ln w="12700">
            <a:solidFill>
              <a:srgbClr val="14B8A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280160" y="2514600"/>
            <a:ext cx="137160" cy="91440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54480" y="2606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 SKILL.md 主體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2926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觸發時載入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0" y="2651760"/>
            <a:ext cx="0" cy="640080"/>
          </a:xfrm>
          <a:prstGeom prst="line">
            <a:avLst/>
          </a:prstGeom>
          <a:noFill/>
          <a:ln w="6350">
            <a:solidFill>
              <a:srgbClr val="14B8A6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526280" y="2606040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完整的指導內容（建議 &lt; 500 行）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包含步驟、範例、注意事項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920240" y="3611880"/>
            <a:ext cx="53035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1920240" y="3611880"/>
            <a:ext cx="137160" cy="9144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194560" y="3703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  Bundled Resources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0233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按需讀取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029200" y="3749040"/>
            <a:ext cx="0" cy="640080"/>
          </a:xfrm>
          <a:prstGeom prst="line">
            <a:avLst/>
          </a:prstGeom>
          <a:noFill/>
          <a:ln w="6350">
            <a:solidFill>
              <a:srgbClr val="0F766E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5166360" y="370332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scripts/、references/、assets/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大小無限制，由 Claude 視情況呼叫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544568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越上層越輕量、越早載入；越下層越重、越按需取用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運作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30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觸發流程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從你說話到 Claude 動手做，中間發生了什麼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你說話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「幫我做一份簡報」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91840" y="1417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17320"/>
            <a:ext cx="265176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42900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掃 metadata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2900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讀所有 Skill 的 name + desc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17320"/>
            <a:ext cx="265176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14173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63640" y="1828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判斷觸發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與請求語意是否匹配？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71800"/>
            <a:ext cx="265176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436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載入 SKILL.md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讀進詳細執行步驟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71800"/>
            <a:ext cx="2651760" cy="3200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2900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42900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依步驟執行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42900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必要時讀 references / scripts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71800"/>
            <a:ext cx="2651760" cy="32004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63640" y="297180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3832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交付結果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63640" y="37490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給檔案 + 告訴你完成什麼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108960" y="2057400"/>
            <a:ext cx="182880" cy="0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5943600" y="2057400"/>
            <a:ext cx="182880" cy="0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315200" y="2697480"/>
            <a:ext cx="0" cy="137160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783080" y="2834640"/>
            <a:ext cx="5532120" cy="0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783080" y="2834640"/>
            <a:ext cx="0" cy="118872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108960" y="3611880"/>
            <a:ext cx="182880" cy="0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5943600" y="3611880"/>
            <a:ext cx="182880" cy="0"/>
          </a:xfrm>
          <a:prstGeom prst="line">
            <a:avLst/>
          </a:prstGeom>
          <a:noFill/>
          <a:ln w="1905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運作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30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是觸發的核心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只用這短短一段判斷要不要叫你的 Skill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弱版 description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建立文件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「文件」太泛 — 可能不觸發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或所有文件相關請求都觸發 — 雜訊大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Claude 不知道什麼情境該選你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320040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371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強版 description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365760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0116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用於建立 Word (.docx)：當用戶提到 Word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文件、報告、備忘錄、信件、含目錄/頁碼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格式的文件時使用。不適用於 PDF 或試算表。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4632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結果：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列出觸發詞 → 詞語匹配率高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4747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說明使用場景 → 語意匹配也高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38404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排除干擾 → 不會跟 PDF skill 打架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Skill 運作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30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"/>
            <a:ext cx="7315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18288" cy="1463040"/>
          </a:xfrm>
          <a:prstGeom prst="rect">
            <a:avLst/>
          </a:prstGeom>
          <a:solidFill>
            <a:srgbClr val="5EEAD4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怎麼使用 Skill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091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— Trigger by Natural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926080"/>
            <a:ext cx="4572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1F5F58"/>
          </a:solidFill>
          <a:ln w="12700">
            <a:solidFill>
              <a:srgbClr val="1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怎麼使用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30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你不需要記 Skill 名字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用自然語言描述任務，Claude 會自己挑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81912"/>
            <a:ext cx="292608" cy="29260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51560" y="15361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「幫我做一份介紹公司的簡報」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05840" y="2075688"/>
            <a:ext cx="256032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觸發理由：提到「簡報」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41732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46320" y="1581912"/>
            <a:ext cx="292608" cy="29260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581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257800" y="153619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「分析這個 CSV 的銷售趨勢」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20574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212080" y="2075688"/>
            <a:ext cx="256032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0756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data-analyzer / xlsx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4632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觸發理由：「CSV」+「分析」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273552"/>
            <a:ext cx="292608" cy="29260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32278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「把這份論文摘要成 Word」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005840" y="3767328"/>
            <a:ext cx="256032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docx + pdf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觸發理由：「Word」+「摘要」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3108960"/>
            <a:ext cx="40233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3273552"/>
            <a:ext cx="292608" cy="29260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3227832"/>
            <a:ext cx="3337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「幫我建一個會議行事曆事件」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3749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212080" y="3767328"/>
            <a:ext cx="2560320" cy="292608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212080" y="37673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 Calendar MCP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846320" y="4160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觸發理由：「行事曆」+ 動作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怎麼使用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30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實戰案例 A — 做一份 PPT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從你說話到拿到檔案，看每一步發生什麼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13716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353312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48840" y="13533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「做一份介紹我們團隊的簡報」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0664" y="1764792"/>
            <a:ext cx="0" cy="109728"/>
          </a:xfrm>
          <a:prstGeom prst="line">
            <a:avLst/>
          </a:prstGeom>
          <a:noFill/>
          <a:ln w="1524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48640" y="1874520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874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51560" y="18745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1856232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185623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識別 → 觸發 pptx skill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40664" y="2267712"/>
            <a:ext cx="0" cy="109728"/>
          </a:xfrm>
          <a:prstGeom prst="line">
            <a:avLst/>
          </a:prstGeom>
          <a:noFill/>
          <a:ln w="1524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51560" y="237744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011680" y="2359152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235915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SKILL.md：先問你 audience、tone…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740664" y="2770632"/>
            <a:ext cx="0" cy="109728"/>
          </a:xfrm>
          <a:prstGeom prst="line">
            <a:avLst/>
          </a:prstGeom>
          <a:noFill/>
          <a:ln w="1524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48640" y="2880360"/>
            <a:ext cx="384048" cy="384048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51560" y="288036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011680" y="2862072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148840" y="286207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回答：對外客戶 / 專業簡潔 / 12 頁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740664" y="3273552"/>
            <a:ext cx="0" cy="109728"/>
          </a:xfrm>
          <a:prstGeom prst="line">
            <a:avLst/>
          </a:prstGeom>
          <a:noFill/>
          <a:ln w="1524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51560" y="33832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11680" y="3364992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148840" y="336499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pptxgenjs 建檔 → 輸出 PDF 自我檢查 → 修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40664" y="3776472"/>
            <a:ext cx="0" cy="109728"/>
          </a:xfrm>
          <a:prstGeom prst="line">
            <a:avLst/>
          </a:prstGeom>
          <a:noFill/>
          <a:ln w="15240">
            <a:solidFill>
              <a:srgbClr val="A8A29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548640" y="3886200"/>
            <a:ext cx="384048" cy="38404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051560" y="388620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3867912"/>
            <a:ext cx="6583680" cy="41148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3867912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 .pptx 檔，附 computer:// 連結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怎麼使用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30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實戰案例 B — 醫學研究情境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舉例：超音波資料集分析 + 文獻整理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77724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4173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「我有 200 張甲狀腺結節超音波 + 一份 Excel 標註，想看資料分佈，再幫我找近三年相關 Transformer 分類論文」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3172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#1   xlsx + data-analyzer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926080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862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Excel 標註欄位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319272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552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計算良性/惡性比例、影像尺寸分佈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12464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6484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畫直方圖、相關熱圖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4105656"/>
            <a:ext cx="146304" cy="146304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0416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 .md 報告 + 圖檔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33172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3317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#2   web-search + RAG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846320" y="2926080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2862072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 PubMed / arXiv 近三年論文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31927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74920" y="32552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instruction 設計七原則限制查詢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712464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74920" y="3648456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去重 + 摘要 + 引用真實性檢查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0" y="4105656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4041648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輸出對照表（含 DOI / arXiv ID）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怎麼使用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30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365760"/>
            <a:ext cx="731520" cy="73152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0"/>
            <a:ext cx="4114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0" dirty="0"/>
          </a:p>
        </p:txBody>
      </p:sp>
      <p:sp>
        <p:nvSpPr>
          <p:cNvPr id="4" name="Shape 2"/>
          <p:cNvSpPr/>
          <p:nvPr/>
        </p:nvSpPr>
        <p:spPr>
          <a:xfrm>
            <a:off x="4480560" y="1554480"/>
            <a:ext cx="18288" cy="1463040"/>
          </a:xfrm>
          <a:prstGeom prst="rect">
            <a:avLst/>
          </a:prstGeom>
          <a:solidFill>
            <a:srgbClr val="5EEAD4">
              <a:alpha val="50000"/>
            </a:srgbClr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09160" y="1554480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怎麼設計 Skill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709160" y="23774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Your Own Skill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926080"/>
            <a:ext cx="457200" cy="36576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1F5F58"/>
          </a:solidFill>
          <a:ln w="12700">
            <a:solidFill>
              <a:srgbClr val="1F5F5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怎麼設計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30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設計流程 — 六個步驟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前三步是 70% 的工作量；後三步保證品質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63040"/>
            <a:ext cx="64008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234440" y="1627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確定目標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299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回答：要做什麼？何時觸發？輸出什麼？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463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463040"/>
            <a:ext cx="64008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46304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069080" y="1627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撰寫 Description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69080" y="20299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最關鍵 — 列觸發詞、場景、排除條件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46304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463040"/>
            <a:ext cx="640080" cy="12801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46304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03720" y="162763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撰寫 SKILL.md 主體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03720" y="202996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背景、流程、注意事項、錯誤處理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71800"/>
            <a:ext cx="640080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97180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234440" y="3136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管理資源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5387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scripts/ + references/ + assets/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291840" y="29718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971800"/>
            <a:ext cx="640080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7180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4069080" y="3136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測試與評估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069080" y="35387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建測試集，量化觸發準確率與輸出品質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65176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126480" y="2971800"/>
            <a:ext cx="640080" cy="1280160"/>
          </a:xfrm>
          <a:prstGeom prst="rect">
            <a:avLst/>
          </a:prstGeom>
          <a:solidFill>
            <a:srgbClr val="14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971800"/>
            <a:ext cx="640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6903720" y="3136392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迭代發布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03720" y="3538728"/>
            <a:ext cx="1783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 feedback 優化，版本控制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怎麼設計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30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撰寫四技巧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想像 Claude 用「關鍵字 + 語意」雙軌判斷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63624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636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5087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列出觸發詞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88720" y="178308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明確列出用戶可能說的詞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926080" y="1600200"/>
            <a:ext cx="0" cy="36576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508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178308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「Word doc」「.docx」「報告」「備忘錄」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9456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340864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40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22860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描述使用場景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256032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說明在哪些情境下有用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926080" y="2377440"/>
            <a:ext cx="0" cy="36576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22860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063240" y="256032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「整理會議紀錄、投標文件、公文格式時」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7180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40080" y="3118104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88720" y="30632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排除干擾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188720" y="333756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說明不應觸發的情況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926080" y="3154680"/>
            <a:ext cx="0" cy="36576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306324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063240" y="333756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「不適用於 PDF / 試算表 / 純文字回覆」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895344"/>
            <a:ext cx="411480" cy="41148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38953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88720" y="38404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稍微積極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188720" y="41148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讓描述「主動」一點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926080" y="3931920"/>
            <a:ext cx="0" cy="36576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3840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063240" y="4114800"/>
            <a:ext cx="5440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「凡涉及 .pptx 任務都應使用此 Skill」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怎麼設計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30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七大 Instruction 原則 → Skill 設計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prompt engineering 直接搬進 SKILL.md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原則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794760" y="1371600"/>
            <a:ext cx="489204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94760" y="1371600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Skill 中的具體體現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755648"/>
            <a:ext cx="3291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94760" y="1755648"/>
            <a:ext cx="4892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5564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 具體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931920" y="1755648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列觸發詞、流程寫成有序步驟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48840"/>
            <a:ext cx="3291840" cy="39319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794760" y="2148840"/>
            <a:ext cx="4892040" cy="39319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148840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Contextualized  脈絡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2148840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開頭交代背景、典型情境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42032"/>
            <a:ext cx="3291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94760" y="2542032"/>
            <a:ext cx="4892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542032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Role-Defined  角色清晰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931920" y="2542032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在流程中為 Claude 指派子角色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935224"/>
            <a:ext cx="3291840" cy="39319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2935224"/>
            <a:ext cx="4892040" cy="39319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935224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Iterative-Friendly  可迭代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931920" y="2935224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預留「若用戶要求修改 X，請執行 Y」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328416"/>
            <a:ext cx="3291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3328416"/>
            <a:ext cx="4892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328416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 有邊界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931920" y="3328416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明確寫「不適用於…」「禁止…」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21608"/>
            <a:ext cx="3291840" cy="39319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794760" y="3721608"/>
            <a:ext cx="4892040" cy="393192"/>
          </a:xfrm>
          <a:prstGeom prst="rect">
            <a:avLst/>
          </a:prstGeom>
          <a:solidFill>
            <a:srgbClr val="F5F5F4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21608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Evaluable  可評估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931920" y="3721608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內建自我檢查（如「驗證引用真實存在」）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4114800"/>
            <a:ext cx="32918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4114800"/>
            <a:ext cx="4892040" cy="393192"/>
          </a:xfrm>
          <a:prstGeom prst="rect">
            <a:avLst/>
          </a:prstGeom>
          <a:solidFill>
            <a:srgbClr val="FFFFFF"/>
          </a:solidFill>
          <a:ln w="6350">
            <a:solidFill>
              <a:srgbClr val="E7E5E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114800"/>
            <a:ext cx="30175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Sourced  可溯源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931920" y="4114800"/>
            <a:ext cx="4617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references/ 與 MCP 落地 RAG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5720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詳細推導見：Instruction設計方法論_醫學影像AI研究者指南.md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怎麼設計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30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資料夾長什麼樣？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一個資料夾 + SKILL.md 是必要，其他按需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3291840"/>
          </a:xfrm>
          <a:prstGeom prst="rect">
            <a:avLst/>
          </a:prstGeom>
          <a:solidFill>
            <a:srgbClr val="1C1917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087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my-skill/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SKILL.md            ← 必要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40080" y="2057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scripts/            ← 可執行腳本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process.py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validate.sh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8803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references/         ← 參考文件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1546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api-docs.md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examples.md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370332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assets/             ← 資源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3977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template.docx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42519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9F6E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logo.png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1371600"/>
            <a:ext cx="4023360" cy="329184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716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最小範本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82880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46320" y="199339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my-skill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46320" y="215798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description: |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46320" y="232257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創建 Word 文件 (.docx)。當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846320" y="248716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用戶提到 Word、報告、備忘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846320" y="265176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錄、含目錄/頁碼文件時使用。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846320" y="281635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不適用於 PDF 或試算表。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46320" y="298094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46320" y="314553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846320" y="331012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 Skill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46320" y="347472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背景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46320" y="363931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846320" y="380390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執行流程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46320" y="396849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46320" y="41330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注意事項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846320" y="4297680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1C19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怎麼設計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30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常見錯誤 &amp; 避雷指南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新手最容易踩的四個坑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581912"/>
            <a:ext cx="274320" cy="2743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536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寫成「建立文件」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98424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05840" y="1947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列出觸發詞 + 排除干擾 + 描述場景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2423160"/>
            <a:ext cx="3703320" cy="45720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4231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為什麼：Claude 沒辦法判斷，要嘛不觸發、要嘛全觸發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41732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46320" y="1581912"/>
            <a:ext cx="274320" cy="2743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81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212080" y="15361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SKILL.md 寫超過 500 行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198424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984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947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把細節搬到 references/，主檔保留指引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846320" y="2423160"/>
            <a:ext cx="3703320" cy="45720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4231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為什麼：Skill 載入會佔大量 context，影響其他任務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273552"/>
            <a:ext cx="274320" cy="2743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3227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把確定性步驟寫成 prompt 給 LLM 自由發揮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367588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3639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丟到 scripts/ 用 Python/Bash 處理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0080" y="4114800"/>
            <a:ext cx="3703320" cy="45720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為什麼：需要精確計算或操作的事，腳本比 LLM 穩定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46320" y="3273552"/>
            <a:ext cx="274320" cy="274320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4632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212080" y="32278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沒寫「不適用於什麼」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846320" y="3675888"/>
            <a:ext cx="274320" cy="274320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46320" y="3675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080" y="363931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description 與 SKILL.md 末尾明確排除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846320" y="4114800"/>
            <a:ext cx="3703320" cy="45720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4114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為什麼：多個 Skill 會搶觸發，邊界不清就會出錯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怎麼設計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/ 30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你的下一階段：三段學習路徑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今天結束後，往哪裡走？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651760" cy="324612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solidFill>
            <a:srgbClr val="5EEAD4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·  初學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4884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用現成 Skill（pptx / docx / xlsx）完成日常任務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 Anthropic 官方 skills repo 看別人怎麼寫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3703320"/>
            <a:ext cx="164592" cy="164592"/>
          </a:xfrm>
          <a:prstGeom prst="ellipse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657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嘗試改一個 description，觀察觸發變化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91840" y="1417320"/>
            <a:ext cx="2651760" cy="3246120"/>
          </a:xfrm>
          <a:prstGeom prst="rect">
            <a:avLst/>
          </a:prstGeom>
          <a:solidFill>
            <a:srgbClr val="FED7AA"/>
          </a:solidFill>
          <a:ln w="12700">
            <a:solidFill>
              <a:srgbClr val="EA580C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91840" y="1417320"/>
            <a:ext cx="2651760" cy="50292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·  進階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474720" y="214884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為自己工作流寫 1–2 個 Skill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474720" y="292608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332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建立測試集，量化觸發準確率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474720" y="3703320"/>
            <a:ext cx="164592" cy="164592"/>
          </a:xfrm>
          <a:prstGeom prst="ellipse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3657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references/ + scripts/ 結構用起來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1417320"/>
            <a:ext cx="2651760" cy="3246120"/>
          </a:xfrm>
          <a:prstGeom prst="rect">
            <a:avLst/>
          </a:prstGeom>
          <a:solidFill>
            <a:srgbClr val="134E4A"/>
          </a:solidFill>
          <a:ln w="127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417320"/>
            <a:ext cx="2651760" cy="5029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41732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·  專家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2148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10312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 Skill 生態系（多個 Skill 協作）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292608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288036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MCP 與外部 API 形成領域工具鏈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309360" y="370332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3657600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 instruction 設計方法論變成團隊規範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收尾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/ 30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73152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292608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今天結束後可以立刻做的三件事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從小開始，先讓 Skill 變成肌肉記憶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8229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173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1463040" y="1527048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用一個現成 Skill 完成今天某項工作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例如：把這週讀的論文，請 Claude 用 docx skill 整理成摘要 Word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132320" y="1737360"/>
            <a:ext cx="14173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0" y="173736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今天 · 5 分鐘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496312"/>
            <a:ext cx="822960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496312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1463040" y="26060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翻一份你常用 Skill 的 SKILL.md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2999232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看 description 怎麼寫、流程如何拆步驟、有哪些注意事項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132320" y="2816352"/>
            <a:ext cx="14173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0" y="281635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 · 30 分鐘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575304"/>
            <a:ext cx="82296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575304"/>
            <a:ext cx="822960" cy="960120"/>
          </a:xfrm>
          <a:prstGeom prst="rect">
            <a:avLst/>
          </a:prstGeom>
          <a:solidFill>
            <a:srgbClr val="EA580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575304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400" dirty="0"/>
          </a:p>
        </p:txBody>
      </p:sp>
      <p:sp>
        <p:nvSpPr>
          <p:cNvPr id="22" name="Text 20"/>
          <p:cNvSpPr/>
          <p:nvPr/>
        </p:nvSpPr>
        <p:spPr>
          <a:xfrm>
            <a:off x="1463040" y="3685032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為自己最常重複的工作寫第一個 Skill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078224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description 開始 → 套用七原則 → 用三個案例測觸發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132320" y="3895344"/>
            <a:ext cx="1417320" cy="320040"/>
          </a:xfrm>
          <a:prstGeom prst="rect">
            <a:avLst/>
          </a:prstGeom>
          <a:solidFill>
            <a:srgbClr val="CCFBF1"/>
          </a:solidFill>
          <a:ln w="12700">
            <a:solidFill>
              <a:srgbClr val="5EEAD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0" y="389534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兩週內 · 2 小時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773168"/>
            <a:ext cx="8229600" cy="10973"/>
          </a:xfrm>
          <a:prstGeom prst="rect">
            <a:avLst/>
          </a:prstGeom>
          <a:solidFill>
            <a:srgbClr val="E7E5E4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收尾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/ 30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34E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029200" cy="5029200"/>
          </a:xfrm>
          <a:prstGeom prst="ellipse">
            <a:avLst/>
          </a:prstGeom>
          <a:solidFill>
            <a:srgbClr val="0F766E">
              <a:alpha val="5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200400"/>
            <a:ext cx="3657600" cy="3657600"/>
          </a:xfrm>
          <a:prstGeom prst="ellipse">
            <a:avLst/>
          </a:prstGeom>
          <a:solidFill>
            <a:srgbClr val="0F766E">
              <a:alpha val="40000"/>
            </a:srgbClr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三句話帶走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是最小單位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80160" y="1691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一段給 LLM 的條件化輸入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128016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是封裝好的 instruction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80160" y="2468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一份可被觸發、附資源的 SOP 手冊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834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12801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是會挑 Skill 的執行者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80160" y="3246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把短輸入補完成完整 instruction，串多步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160520"/>
            <a:ext cx="36576" cy="365760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  ·  Q&amp;A</a:t>
            </a:r>
            <a:pPr algn="l" indent="0" marL="0">
              <a:buNone/>
            </a:pPr>
            <a:r>
              <a:rPr lang="en-US" sz="11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相關文件：AI_Agent_與_Skill_完整教學.md  ·  Instruction設計方法論_醫學影像AI研究者指南.md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收尾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7240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 與 Skill 從零開始</dc:title>
  <dc:subject>PptxGenJS Presentation</dc:subject>
  <dc:creator>Bedridden</dc:creator>
  <cp:lastModifiedBy>Bedridden</cp:lastModifiedBy>
  <cp:revision>1</cp:revision>
  <dcterms:created xsi:type="dcterms:W3CDTF">2026-04-27T06:17:01Z</dcterms:created>
  <dcterms:modified xsi:type="dcterms:W3CDTF">2026-04-27T06:17:01Z</dcterms:modified>
</cp:coreProperties>
</file>